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502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1D26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1D26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1D26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1D26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6260" y="372353"/>
            <a:ext cx="2626819" cy="1129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1D26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4050" y="1271968"/>
            <a:ext cx="9225280" cy="2726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2860" y="2169627"/>
            <a:ext cx="612140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solidFill>
                  <a:srgbClr val="000000"/>
                </a:solidFill>
              </a:rPr>
              <a:t>Session</a:t>
            </a:r>
            <a:r>
              <a:rPr sz="3600" spc="-7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Tracking</a:t>
            </a:r>
            <a:r>
              <a:rPr sz="3600" spc="-5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Techniques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5396" y="236626"/>
            <a:ext cx="6187606" cy="9732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400" y="4191000"/>
            <a:ext cx="2966512" cy="91499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4"/>
              </a:spcBef>
            </a:pPr>
            <a:r>
              <a:rPr lang="en-US" sz="1950" b="1" spc="50" dirty="0">
                <a:latin typeface="Roboto"/>
                <a:cs typeface="Roboto"/>
              </a:rPr>
              <a:t>V. Venkata Kumar Reddy</a:t>
            </a:r>
            <a:r>
              <a:rPr sz="1950" b="1" spc="200" dirty="0">
                <a:latin typeface="Roboto"/>
                <a:cs typeface="Roboto"/>
              </a:rPr>
              <a:t> </a:t>
            </a:r>
            <a:r>
              <a:rPr sz="1950" b="1" spc="-10" dirty="0">
                <a:latin typeface="Roboto"/>
                <a:cs typeface="Roboto"/>
              </a:rPr>
              <a:t>1</a:t>
            </a:r>
            <a:r>
              <a:rPr lang="en-US" sz="1950" b="1" spc="-10" dirty="0">
                <a:latin typeface="Roboto"/>
                <a:cs typeface="Roboto"/>
              </a:rPr>
              <a:t>92311350</a:t>
            </a:r>
            <a:endParaRPr sz="19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950" b="1" spc="95" dirty="0">
                <a:latin typeface="Roboto"/>
                <a:cs typeface="Roboto"/>
              </a:rPr>
              <a:t>B.E</a:t>
            </a:r>
            <a:r>
              <a:rPr sz="1950" b="1" spc="30" dirty="0">
                <a:latin typeface="Roboto"/>
                <a:cs typeface="Roboto"/>
              </a:rPr>
              <a:t> </a:t>
            </a:r>
            <a:r>
              <a:rPr sz="1950" b="1" spc="-245" dirty="0">
                <a:latin typeface="Roboto"/>
                <a:cs typeface="Roboto"/>
              </a:rPr>
              <a:t>-</a:t>
            </a:r>
            <a:r>
              <a:rPr sz="1950" b="1" spc="30" dirty="0">
                <a:latin typeface="Roboto"/>
                <a:cs typeface="Roboto"/>
              </a:rPr>
              <a:t> </a:t>
            </a:r>
            <a:r>
              <a:rPr sz="1950" b="1" spc="55" dirty="0">
                <a:latin typeface="Roboto"/>
                <a:cs typeface="Roboto"/>
              </a:rPr>
              <a:t>CSE</a:t>
            </a:r>
            <a:endParaRPr sz="19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114"/>
              </a:spcBef>
            </a:pPr>
            <a:r>
              <a:rPr sz="3600" spc="285" dirty="0">
                <a:solidFill>
                  <a:srgbClr val="000000"/>
                </a:solidFill>
                <a:latin typeface="Roboto"/>
                <a:cs typeface="Roboto"/>
              </a:rPr>
              <a:t>Introducti </a:t>
            </a:r>
            <a:r>
              <a:rPr sz="3600" spc="245" dirty="0">
                <a:solidFill>
                  <a:srgbClr val="000000"/>
                </a:solidFill>
                <a:latin typeface="Roboto"/>
                <a:cs typeface="Roboto"/>
              </a:rPr>
              <a:t>on</a:t>
            </a:r>
            <a:endParaRPr sz="3600">
              <a:latin typeface="Roboto"/>
              <a:cs typeface="Robo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" y="80152"/>
            <a:ext cx="936470" cy="11078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92628" y="80152"/>
            <a:ext cx="1254093" cy="11078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4263" y="1571964"/>
            <a:ext cx="8721090" cy="39109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5275" marR="656590" indent="-283210">
              <a:lnSpc>
                <a:spcPct val="100499"/>
              </a:lnSpc>
              <a:spcBef>
                <a:spcPts val="114"/>
              </a:spcBef>
              <a:buFont typeface="Arial MT"/>
              <a:buChar char="•"/>
              <a:tabLst>
                <a:tab pos="295275" algn="l"/>
              </a:tabLst>
            </a:pPr>
            <a:r>
              <a:rPr sz="1950" b="1" dirty="0">
                <a:latin typeface="Roboto Bk"/>
                <a:cs typeface="Roboto Bk"/>
              </a:rPr>
              <a:t>Session</a:t>
            </a:r>
            <a:r>
              <a:rPr sz="1950" b="1" spc="40" dirty="0">
                <a:latin typeface="Roboto Bk"/>
                <a:cs typeface="Roboto Bk"/>
              </a:rPr>
              <a:t> </a:t>
            </a:r>
            <a:r>
              <a:rPr sz="1950" b="1" spc="65" dirty="0">
                <a:latin typeface="Roboto Bk"/>
                <a:cs typeface="Roboto Bk"/>
              </a:rPr>
              <a:t>tracking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is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used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to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75" dirty="0">
                <a:latin typeface="Roboto Bk"/>
                <a:cs typeface="Roboto Bk"/>
              </a:rPr>
              <a:t>identify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114" dirty="0">
                <a:latin typeface="Roboto Bk"/>
                <a:cs typeface="Roboto Bk"/>
              </a:rPr>
              <a:t>and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80" dirty="0">
                <a:latin typeface="Roboto Bk"/>
                <a:cs typeface="Roboto Bk"/>
              </a:rPr>
              <a:t>manage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75" dirty="0">
                <a:latin typeface="Roboto Bk"/>
                <a:cs typeface="Roboto Bk"/>
              </a:rPr>
              <a:t>user</a:t>
            </a:r>
            <a:r>
              <a:rPr sz="1950" b="1" spc="45" dirty="0">
                <a:latin typeface="Roboto Bk"/>
                <a:cs typeface="Roboto Bk"/>
              </a:rPr>
              <a:t> interactions </a:t>
            </a:r>
            <a:r>
              <a:rPr sz="1950" b="1" spc="114" dirty="0">
                <a:latin typeface="Roboto Bk"/>
                <a:cs typeface="Roboto Bk"/>
              </a:rPr>
              <a:t>during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spc="70" dirty="0">
                <a:latin typeface="Roboto Bk"/>
                <a:cs typeface="Roboto Bk"/>
              </a:rPr>
              <a:t>a</a:t>
            </a:r>
            <a:r>
              <a:rPr sz="1950" b="1" spc="35" dirty="0">
                <a:latin typeface="Roboto Bk"/>
                <a:cs typeface="Roboto Bk"/>
              </a:rPr>
              <a:t> </a:t>
            </a:r>
            <a:r>
              <a:rPr sz="1950" b="1" spc="140" dirty="0">
                <a:latin typeface="Roboto Bk"/>
                <a:cs typeface="Roboto Bk"/>
              </a:rPr>
              <a:t>web</a:t>
            </a:r>
            <a:r>
              <a:rPr sz="1950" b="1" spc="3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session.</a:t>
            </a:r>
            <a:endParaRPr sz="195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950">
              <a:latin typeface="Roboto Bk"/>
              <a:cs typeface="Roboto Bk"/>
            </a:endParaRPr>
          </a:p>
          <a:p>
            <a:pPr marL="295275" indent="-282575">
              <a:lnSpc>
                <a:spcPct val="100000"/>
              </a:lnSpc>
              <a:buFont typeface="Arial MT"/>
              <a:buChar char="•"/>
              <a:tabLst>
                <a:tab pos="295275" algn="l"/>
              </a:tabLst>
            </a:pPr>
            <a:r>
              <a:rPr sz="1950" b="1" spc="70" dirty="0">
                <a:latin typeface="Roboto Bk"/>
                <a:cs typeface="Roboto Bk"/>
              </a:rPr>
              <a:t>It</a:t>
            </a:r>
            <a:r>
              <a:rPr sz="1950" b="1" spc="50" dirty="0">
                <a:latin typeface="Roboto Bk"/>
                <a:cs typeface="Roboto Bk"/>
              </a:rPr>
              <a:t> helps </a:t>
            </a:r>
            <a:r>
              <a:rPr sz="1950" b="1" spc="100" dirty="0">
                <a:latin typeface="Roboto Bk"/>
                <a:cs typeface="Roboto Bk"/>
              </a:rPr>
              <a:t>maintain</a:t>
            </a:r>
            <a:r>
              <a:rPr sz="1950" b="1" spc="50" dirty="0">
                <a:latin typeface="Roboto Bk"/>
                <a:cs typeface="Roboto Bk"/>
              </a:rPr>
              <a:t> </a:t>
            </a:r>
            <a:r>
              <a:rPr sz="1950" b="1" spc="75" dirty="0">
                <a:latin typeface="Roboto Bk"/>
                <a:cs typeface="Roboto Bk"/>
              </a:rPr>
              <a:t>user</a:t>
            </a:r>
            <a:r>
              <a:rPr sz="1950" b="1" spc="50" dirty="0">
                <a:latin typeface="Roboto Bk"/>
                <a:cs typeface="Roboto Bk"/>
              </a:rPr>
              <a:t> </a:t>
            </a:r>
            <a:r>
              <a:rPr sz="1950" b="1" spc="95" dirty="0">
                <a:latin typeface="Roboto Bk"/>
                <a:cs typeface="Roboto Bk"/>
              </a:rPr>
              <a:t>information</a:t>
            </a:r>
            <a:r>
              <a:rPr sz="1950" b="1" spc="5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across</a:t>
            </a:r>
            <a:r>
              <a:rPr sz="1950" b="1" spc="55" dirty="0">
                <a:latin typeface="Roboto Bk"/>
                <a:cs typeface="Roboto Bk"/>
              </a:rPr>
              <a:t> </a:t>
            </a:r>
            <a:r>
              <a:rPr sz="1950" b="1" spc="85" dirty="0">
                <a:latin typeface="Roboto Bk"/>
                <a:cs typeface="Roboto Bk"/>
              </a:rPr>
              <a:t>multiple</a:t>
            </a:r>
            <a:r>
              <a:rPr sz="1950" b="1" spc="50" dirty="0">
                <a:latin typeface="Roboto Bk"/>
                <a:cs typeface="Roboto Bk"/>
              </a:rPr>
              <a:t> </a:t>
            </a:r>
            <a:r>
              <a:rPr sz="1950" b="1" spc="140" dirty="0">
                <a:latin typeface="Roboto Bk"/>
                <a:cs typeface="Roboto Bk"/>
              </a:rPr>
              <a:t>web</a:t>
            </a:r>
            <a:r>
              <a:rPr sz="1950" b="1" spc="50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pages.</a:t>
            </a:r>
            <a:endParaRPr sz="195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950">
              <a:latin typeface="Roboto Bk"/>
              <a:cs typeface="Roboto Bk"/>
            </a:endParaRPr>
          </a:p>
          <a:p>
            <a:pPr marL="295275" marR="1106170" indent="-283210">
              <a:lnSpc>
                <a:spcPct val="100499"/>
              </a:lnSpc>
              <a:buFont typeface="Arial MT"/>
              <a:buChar char="•"/>
              <a:tabLst>
                <a:tab pos="295275" algn="l"/>
              </a:tabLst>
            </a:pPr>
            <a:r>
              <a:rPr sz="1950" b="1" spc="85" dirty="0">
                <a:latin typeface="Roboto Bk"/>
                <a:cs typeface="Roboto Bk"/>
              </a:rPr>
              <a:t>HTTP</a:t>
            </a:r>
            <a:r>
              <a:rPr sz="1950" b="1" dirty="0">
                <a:latin typeface="Roboto Bk"/>
                <a:cs typeface="Roboto Bk"/>
              </a:rPr>
              <a:t> is </a:t>
            </a:r>
            <a:r>
              <a:rPr sz="1950" b="1" spc="70" dirty="0">
                <a:latin typeface="Roboto Bk"/>
                <a:cs typeface="Roboto Bk"/>
              </a:rPr>
              <a:t>a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stateless </a:t>
            </a:r>
            <a:r>
              <a:rPr sz="1950" b="1" spc="45" dirty="0">
                <a:latin typeface="Roboto Bk"/>
                <a:cs typeface="Roboto Bk"/>
              </a:rPr>
              <a:t>protocol,</a:t>
            </a:r>
            <a:r>
              <a:rPr sz="1950" b="1" dirty="0">
                <a:latin typeface="Roboto Bk"/>
                <a:cs typeface="Roboto Bk"/>
              </a:rPr>
              <a:t> so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session </a:t>
            </a:r>
            <a:r>
              <a:rPr sz="1950" b="1" spc="65" dirty="0">
                <a:latin typeface="Roboto Bk"/>
                <a:cs typeface="Roboto Bk"/>
              </a:rPr>
              <a:t>tracking</a:t>
            </a:r>
            <a:r>
              <a:rPr sz="1950" b="1" dirty="0">
                <a:latin typeface="Roboto Bk"/>
                <a:cs typeface="Roboto Bk"/>
              </a:rPr>
              <a:t> is</a:t>
            </a:r>
            <a:r>
              <a:rPr sz="1950" b="1" spc="5" dirty="0">
                <a:latin typeface="Roboto Bk"/>
                <a:cs typeface="Roboto Bk"/>
              </a:rPr>
              <a:t> </a:t>
            </a:r>
            <a:r>
              <a:rPr sz="1950" b="1" spc="125" dirty="0">
                <a:latin typeface="Roboto Bk"/>
                <a:cs typeface="Roboto Bk"/>
              </a:rPr>
              <a:t>required</a:t>
            </a:r>
            <a:r>
              <a:rPr sz="1950" b="1" dirty="0">
                <a:latin typeface="Roboto Bk"/>
                <a:cs typeface="Roboto Bk"/>
              </a:rPr>
              <a:t> </a:t>
            </a:r>
            <a:r>
              <a:rPr sz="1950" b="1" spc="-25" dirty="0">
                <a:latin typeface="Roboto Bk"/>
                <a:cs typeface="Roboto Bk"/>
              </a:rPr>
              <a:t>to </a:t>
            </a:r>
            <a:r>
              <a:rPr sz="1950" b="1" spc="125" dirty="0">
                <a:latin typeface="Roboto Bk"/>
                <a:cs typeface="Roboto Bk"/>
              </a:rPr>
              <a:t>remember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75" dirty="0">
                <a:latin typeface="Roboto Bk"/>
                <a:cs typeface="Roboto Bk"/>
              </a:rPr>
              <a:t>user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activities.</a:t>
            </a:r>
            <a:endParaRPr sz="195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950">
              <a:latin typeface="Roboto Bk"/>
              <a:cs typeface="Roboto Bk"/>
            </a:endParaRPr>
          </a:p>
          <a:p>
            <a:pPr marL="295275" marR="5080" indent="-283210">
              <a:lnSpc>
                <a:spcPct val="100499"/>
              </a:lnSpc>
              <a:buFont typeface="Arial MT"/>
              <a:buChar char="•"/>
              <a:tabLst>
                <a:tab pos="295275" algn="l"/>
              </a:tabLst>
            </a:pPr>
            <a:r>
              <a:rPr sz="1950" b="1" spc="70" dirty="0">
                <a:latin typeface="Roboto Bk"/>
                <a:cs typeface="Roboto Bk"/>
              </a:rPr>
              <a:t>It</a:t>
            </a:r>
            <a:r>
              <a:rPr sz="1950" b="1" spc="5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is</a:t>
            </a:r>
            <a:r>
              <a:rPr sz="1950" b="1" spc="60" dirty="0">
                <a:latin typeface="Roboto Bk"/>
                <a:cs typeface="Roboto Bk"/>
              </a:rPr>
              <a:t> </a:t>
            </a:r>
            <a:r>
              <a:rPr sz="1950" b="1" spc="110" dirty="0">
                <a:latin typeface="Roboto Bk"/>
                <a:cs typeface="Roboto Bk"/>
              </a:rPr>
              <a:t>widely</a:t>
            </a:r>
            <a:r>
              <a:rPr sz="1950" b="1" spc="6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used</a:t>
            </a:r>
            <a:r>
              <a:rPr sz="1950" b="1" spc="55" dirty="0">
                <a:latin typeface="Roboto Bk"/>
                <a:cs typeface="Roboto Bk"/>
              </a:rPr>
              <a:t> </a:t>
            </a:r>
            <a:r>
              <a:rPr sz="1950" b="1" spc="130" dirty="0">
                <a:latin typeface="Roboto Bk"/>
                <a:cs typeface="Roboto Bk"/>
              </a:rPr>
              <a:t>in</a:t>
            </a:r>
            <a:r>
              <a:rPr sz="1950" b="1" spc="60" dirty="0">
                <a:latin typeface="Roboto Bk"/>
                <a:cs typeface="Roboto Bk"/>
              </a:rPr>
              <a:t> </a:t>
            </a:r>
            <a:r>
              <a:rPr sz="1950" b="1" spc="50" dirty="0">
                <a:latin typeface="Roboto Bk"/>
                <a:cs typeface="Roboto Bk"/>
              </a:rPr>
              <a:t>applications</a:t>
            </a:r>
            <a:r>
              <a:rPr sz="1950" b="1" spc="60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such</a:t>
            </a:r>
            <a:r>
              <a:rPr sz="1950" b="1" spc="55" dirty="0">
                <a:latin typeface="Roboto Bk"/>
                <a:cs typeface="Roboto Bk"/>
              </a:rPr>
              <a:t> </a:t>
            </a:r>
            <a:r>
              <a:rPr sz="1950" b="1" dirty="0">
                <a:latin typeface="Roboto Bk"/>
                <a:cs typeface="Roboto Bk"/>
              </a:rPr>
              <a:t>as</a:t>
            </a:r>
            <a:r>
              <a:rPr sz="1950" b="1" spc="60" dirty="0">
                <a:latin typeface="Roboto Bk"/>
                <a:cs typeface="Roboto Bk"/>
              </a:rPr>
              <a:t> </a:t>
            </a:r>
            <a:r>
              <a:rPr sz="1950" b="1" spc="90" dirty="0">
                <a:latin typeface="Roboto Bk"/>
                <a:cs typeface="Roboto Bk"/>
              </a:rPr>
              <a:t>online</a:t>
            </a:r>
            <a:r>
              <a:rPr sz="1950" b="1" spc="60" dirty="0">
                <a:latin typeface="Roboto Bk"/>
                <a:cs typeface="Roboto Bk"/>
              </a:rPr>
              <a:t> </a:t>
            </a:r>
            <a:r>
              <a:rPr sz="1950" b="1" spc="45" dirty="0">
                <a:latin typeface="Roboto Bk"/>
                <a:cs typeface="Roboto Bk"/>
              </a:rPr>
              <a:t>shopping,</a:t>
            </a:r>
            <a:r>
              <a:rPr sz="1950" b="1" spc="55" dirty="0">
                <a:latin typeface="Roboto Bk"/>
                <a:cs typeface="Roboto Bk"/>
              </a:rPr>
              <a:t> </a:t>
            </a:r>
            <a:r>
              <a:rPr sz="1950" b="1" spc="70" dirty="0">
                <a:latin typeface="Roboto Bk"/>
                <a:cs typeface="Roboto Bk"/>
              </a:rPr>
              <a:t>banking,</a:t>
            </a:r>
            <a:r>
              <a:rPr sz="1950" b="1" spc="60" dirty="0">
                <a:latin typeface="Roboto Bk"/>
                <a:cs typeface="Roboto Bk"/>
              </a:rPr>
              <a:t> </a:t>
            </a:r>
            <a:r>
              <a:rPr sz="1950" b="1" spc="90" dirty="0">
                <a:latin typeface="Roboto Bk"/>
                <a:cs typeface="Roboto Bk"/>
              </a:rPr>
              <a:t>and </a:t>
            </a:r>
            <a:r>
              <a:rPr sz="1950" b="1" spc="60" dirty="0">
                <a:latin typeface="Roboto Bk"/>
                <a:cs typeface="Roboto Bk"/>
              </a:rPr>
              <a:t>login</a:t>
            </a:r>
            <a:r>
              <a:rPr sz="1950" b="1" spc="45" dirty="0">
                <a:latin typeface="Roboto Bk"/>
                <a:cs typeface="Roboto Bk"/>
              </a:rPr>
              <a:t> </a:t>
            </a:r>
            <a:r>
              <a:rPr sz="1950" b="1" spc="-10" dirty="0">
                <a:latin typeface="Roboto Bk"/>
                <a:cs typeface="Roboto Bk"/>
              </a:rPr>
              <a:t>systems.</a:t>
            </a:r>
            <a:endParaRPr sz="195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950">
              <a:latin typeface="Roboto Bk"/>
              <a:cs typeface="Roboto Bk"/>
            </a:endParaRPr>
          </a:p>
          <a:p>
            <a:pPr marL="295275" marR="1099820" indent="-283210">
              <a:lnSpc>
                <a:spcPct val="100499"/>
              </a:lnSpc>
              <a:buFont typeface="Arial MT"/>
              <a:buChar char="•"/>
              <a:tabLst>
                <a:tab pos="295275" algn="l"/>
              </a:tabLst>
            </a:pPr>
            <a:r>
              <a:rPr sz="1950" b="1" dirty="0">
                <a:latin typeface="Roboto Bk"/>
                <a:cs typeface="Roboto Bk"/>
              </a:rPr>
              <a:t>Session</a:t>
            </a:r>
            <a:r>
              <a:rPr sz="1950" b="1" spc="75" dirty="0">
                <a:latin typeface="Roboto Bk"/>
                <a:cs typeface="Roboto Bk"/>
              </a:rPr>
              <a:t> </a:t>
            </a:r>
            <a:r>
              <a:rPr sz="1950" b="1" spc="65" dirty="0">
                <a:latin typeface="Roboto Bk"/>
                <a:cs typeface="Roboto Bk"/>
              </a:rPr>
              <a:t>tracking</a:t>
            </a:r>
            <a:r>
              <a:rPr sz="1950" b="1" spc="80" dirty="0">
                <a:latin typeface="Roboto Bk"/>
                <a:cs typeface="Roboto Bk"/>
              </a:rPr>
              <a:t> </a:t>
            </a:r>
            <a:r>
              <a:rPr sz="1950" b="1" spc="55" dirty="0">
                <a:latin typeface="Roboto Bk"/>
                <a:cs typeface="Roboto Bk"/>
              </a:rPr>
              <a:t>techniques</a:t>
            </a:r>
            <a:r>
              <a:rPr sz="1950" b="1" spc="80" dirty="0">
                <a:latin typeface="Roboto Bk"/>
                <a:cs typeface="Roboto Bk"/>
              </a:rPr>
              <a:t> ensure </a:t>
            </a:r>
            <a:r>
              <a:rPr sz="1950" b="1" dirty="0">
                <a:latin typeface="Roboto Bk"/>
                <a:cs typeface="Roboto Bk"/>
              </a:rPr>
              <a:t>secure,</a:t>
            </a:r>
            <a:r>
              <a:rPr sz="1950" b="1" spc="75" dirty="0">
                <a:latin typeface="Roboto Bk"/>
                <a:cs typeface="Roboto Bk"/>
              </a:rPr>
              <a:t> </a:t>
            </a:r>
            <a:r>
              <a:rPr sz="1950" b="1" spc="55" dirty="0">
                <a:latin typeface="Roboto Bk"/>
                <a:cs typeface="Roboto Bk"/>
              </a:rPr>
              <a:t>personalized,</a:t>
            </a:r>
            <a:r>
              <a:rPr sz="1950" b="1" spc="80" dirty="0">
                <a:latin typeface="Roboto Bk"/>
                <a:cs typeface="Roboto Bk"/>
              </a:rPr>
              <a:t> </a:t>
            </a:r>
            <a:r>
              <a:rPr sz="1950" b="1" spc="90" dirty="0">
                <a:latin typeface="Roboto Bk"/>
                <a:cs typeface="Roboto Bk"/>
              </a:rPr>
              <a:t>and </a:t>
            </a:r>
            <a:r>
              <a:rPr sz="1950" b="1" spc="65" dirty="0">
                <a:latin typeface="Roboto Bk"/>
                <a:cs typeface="Roboto Bk"/>
              </a:rPr>
              <a:t>continuous</a:t>
            </a:r>
            <a:r>
              <a:rPr sz="1950" b="1" spc="30" dirty="0">
                <a:latin typeface="Roboto Bk"/>
                <a:cs typeface="Roboto Bk"/>
              </a:rPr>
              <a:t> </a:t>
            </a:r>
            <a:r>
              <a:rPr sz="1950" b="1" spc="75" dirty="0">
                <a:latin typeface="Roboto Bk"/>
                <a:cs typeface="Roboto Bk"/>
              </a:rPr>
              <a:t>user</a:t>
            </a:r>
            <a:r>
              <a:rPr sz="1950" b="1" spc="35" dirty="0">
                <a:latin typeface="Roboto Bk"/>
                <a:cs typeface="Roboto Bk"/>
              </a:rPr>
              <a:t> </a:t>
            </a:r>
            <a:r>
              <a:rPr sz="1950" b="1" spc="40" dirty="0">
                <a:latin typeface="Roboto Bk"/>
                <a:cs typeface="Roboto Bk"/>
              </a:rPr>
              <a:t>experiences.</a:t>
            </a:r>
            <a:endParaRPr sz="195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996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HttpSession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627" y="1621916"/>
            <a:ext cx="4451350" cy="3394710"/>
            <a:chOff x="452627" y="1621916"/>
            <a:chExt cx="4451350" cy="3394710"/>
          </a:xfrm>
        </p:grpSpPr>
        <p:sp>
          <p:nvSpPr>
            <p:cNvPr id="4" name="object 4"/>
            <p:cNvSpPr/>
            <p:nvPr/>
          </p:nvSpPr>
          <p:spPr>
            <a:xfrm>
              <a:off x="452627" y="1621916"/>
              <a:ext cx="4451350" cy="3394710"/>
            </a:xfrm>
            <a:custGeom>
              <a:avLst/>
              <a:gdLst/>
              <a:ahLst/>
              <a:cxnLst/>
              <a:rect l="l" t="t" r="r" b="b"/>
              <a:pathLst>
                <a:path w="4451350" h="3394710">
                  <a:moveTo>
                    <a:pt x="4390483" y="3394710"/>
                  </a:moveTo>
                  <a:lnTo>
                    <a:pt x="60357" y="3394710"/>
                  </a:lnTo>
                  <a:lnTo>
                    <a:pt x="36863" y="3389966"/>
                  </a:lnTo>
                  <a:lnTo>
                    <a:pt x="17678" y="3377031"/>
                  </a:lnTo>
                  <a:lnTo>
                    <a:pt x="4743" y="3357846"/>
                  </a:lnTo>
                  <a:lnTo>
                    <a:pt x="0" y="3334351"/>
                  </a:lnTo>
                  <a:lnTo>
                    <a:pt x="0" y="60357"/>
                  </a:lnTo>
                  <a:lnTo>
                    <a:pt x="4743" y="36863"/>
                  </a:lnTo>
                  <a:lnTo>
                    <a:pt x="17678" y="17678"/>
                  </a:lnTo>
                  <a:lnTo>
                    <a:pt x="36863" y="4743"/>
                  </a:lnTo>
                  <a:lnTo>
                    <a:pt x="60357" y="0"/>
                  </a:lnTo>
                  <a:lnTo>
                    <a:pt x="4390483" y="0"/>
                  </a:lnTo>
                  <a:lnTo>
                    <a:pt x="4433163" y="17678"/>
                  </a:lnTo>
                  <a:lnTo>
                    <a:pt x="4450841" y="60357"/>
                  </a:lnTo>
                  <a:lnTo>
                    <a:pt x="4450841" y="3334351"/>
                  </a:lnTo>
                  <a:lnTo>
                    <a:pt x="4446098" y="3357846"/>
                  </a:lnTo>
                  <a:lnTo>
                    <a:pt x="4433163" y="3377031"/>
                  </a:lnTo>
                  <a:lnTo>
                    <a:pt x="4413977" y="3389966"/>
                  </a:lnTo>
                  <a:lnTo>
                    <a:pt x="4390483" y="3394710"/>
                  </a:lnTo>
                  <a:close/>
                </a:path>
              </a:pathLst>
            </a:custGeom>
            <a:solidFill>
              <a:srgbClr val="F1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6660" y="188595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188594" y="377189"/>
                  </a:moveTo>
                  <a:lnTo>
                    <a:pt x="138458" y="370453"/>
                  </a:lnTo>
                  <a:lnTo>
                    <a:pt x="93407" y="351441"/>
                  </a:lnTo>
                  <a:lnTo>
                    <a:pt x="55238" y="321951"/>
                  </a:lnTo>
                  <a:lnTo>
                    <a:pt x="25748" y="283782"/>
                  </a:lnTo>
                  <a:lnTo>
                    <a:pt x="6736" y="238731"/>
                  </a:lnTo>
                  <a:lnTo>
                    <a:pt x="0" y="188594"/>
                  </a:lnTo>
                  <a:lnTo>
                    <a:pt x="6736" y="138458"/>
                  </a:lnTo>
                  <a:lnTo>
                    <a:pt x="25748" y="93407"/>
                  </a:lnTo>
                  <a:lnTo>
                    <a:pt x="55238" y="55238"/>
                  </a:lnTo>
                  <a:lnTo>
                    <a:pt x="93407" y="25748"/>
                  </a:lnTo>
                  <a:lnTo>
                    <a:pt x="138458" y="6736"/>
                  </a:lnTo>
                  <a:lnTo>
                    <a:pt x="188594" y="0"/>
                  </a:lnTo>
                  <a:lnTo>
                    <a:pt x="225559" y="3657"/>
                  </a:lnTo>
                  <a:lnTo>
                    <a:pt x="293227" y="31686"/>
                  </a:lnTo>
                  <a:lnTo>
                    <a:pt x="345503" y="83962"/>
                  </a:lnTo>
                  <a:lnTo>
                    <a:pt x="373532" y="151630"/>
                  </a:lnTo>
                  <a:lnTo>
                    <a:pt x="377189" y="188594"/>
                  </a:lnTo>
                  <a:lnTo>
                    <a:pt x="370453" y="238731"/>
                  </a:lnTo>
                  <a:lnTo>
                    <a:pt x="351441" y="283782"/>
                  </a:lnTo>
                  <a:lnTo>
                    <a:pt x="321951" y="321951"/>
                  </a:lnTo>
                  <a:lnTo>
                    <a:pt x="283782" y="351441"/>
                  </a:lnTo>
                  <a:lnTo>
                    <a:pt x="238731" y="370453"/>
                  </a:lnTo>
                  <a:lnTo>
                    <a:pt x="188594" y="377189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469" y="1993078"/>
              <a:ext cx="143426" cy="1604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30154" y="1936271"/>
            <a:ext cx="3761740" cy="17456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1D2661"/>
                </a:solidFill>
                <a:latin typeface="Cambria"/>
                <a:cs typeface="Cambria"/>
              </a:rPr>
              <a:t>Advantages</a:t>
            </a:r>
            <a:endParaRPr sz="1450">
              <a:latin typeface="Cambria"/>
              <a:cs typeface="Cambria"/>
            </a:endParaRPr>
          </a:p>
          <a:p>
            <a:pPr marL="269240" indent="-256540">
              <a:lnSpc>
                <a:spcPct val="100000"/>
              </a:lnSpc>
              <a:spcBef>
                <a:spcPts val="1590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Stores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complex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objects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server-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side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—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not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limited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to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strings</a:t>
            </a:r>
            <a:endParaRPr sz="1050">
              <a:latin typeface="Calibri"/>
              <a:cs typeface="Calibri"/>
            </a:endParaRPr>
          </a:p>
          <a:p>
            <a:pPr marL="269240" marR="166370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Data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never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travels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over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wire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in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full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—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only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session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ID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D2133"/>
                </a:solidFill>
                <a:latin typeface="Calibri"/>
                <a:cs typeface="Calibri"/>
              </a:rPr>
              <a:t>is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exchanged</a:t>
            </a:r>
            <a:endParaRPr sz="105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844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Automatic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timeout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/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invalidation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support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(session.invalidate())</a:t>
            </a:r>
            <a:endParaRPr sz="1050">
              <a:latin typeface="Calibri"/>
              <a:cs typeface="Calibri"/>
            </a:endParaRPr>
          </a:p>
          <a:p>
            <a:pPr marL="269240" marR="5080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Works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even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when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cookies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are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partially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restricted,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if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paired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1D2133"/>
                </a:solidFill>
                <a:latin typeface="Calibri"/>
                <a:cs typeface="Calibri"/>
              </a:rPr>
              <a:t>with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URL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rewriting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92065" y="1621916"/>
            <a:ext cx="4451350" cy="3394710"/>
            <a:chOff x="5092065" y="1621916"/>
            <a:chExt cx="4451350" cy="3394710"/>
          </a:xfrm>
        </p:grpSpPr>
        <p:sp>
          <p:nvSpPr>
            <p:cNvPr id="9" name="object 9"/>
            <p:cNvSpPr/>
            <p:nvPr/>
          </p:nvSpPr>
          <p:spPr>
            <a:xfrm>
              <a:off x="5092065" y="1621916"/>
              <a:ext cx="4451350" cy="3394710"/>
            </a:xfrm>
            <a:custGeom>
              <a:avLst/>
              <a:gdLst/>
              <a:ahLst/>
              <a:cxnLst/>
              <a:rect l="l" t="t" r="r" b="b"/>
              <a:pathLst>
                <a:path w="4451350" h="3394710">
                  <a:moveTo>
                    <a:pt x="4390484" y="3394710"/>
                  </a:moveTo>
                  <a:lnTo>
                    <a:pt x="60358" y="3394710"/>
                  </a:lnTo>
                  <a:lnTo>
                    <a:pt x="36863" y="3389966"/>
                  </a:lnTo>
                  <a:lnTo>
                    <a:pt x="17678" y="3377031"/>
                  </a:lnTo>
                  <a:lnTo>
                    <a:pt x="4743" y="3357846"/>
                  </a:lnTo>
                  <a:lnTo>
                    <a:pt x="0" y="3334351"/>
                  </a:lnTo>
                  <a:lnTo>
                    <a:pt x="0" y="60357"/>
                  </a:lnTo>
                  <a:lnTo>
                    <a:pt x="4743" y="36863"/>
                  </a:lnTo>
                  <a:lnTo>
                    <a:pt x="17678" y="17678"/>
                  </a:lnTo>
                  <a:lnTo>
                    <a:pt x="36863" y="4743"/>
                  </a:lnTo>
                  <a:lnTo>
                    <a:pt x="60358" y="0"/>
                  </a:lnTo>
                  <a:lnTo>
                    <a:pt x="4390484" y="0"/>
                  </a:lnTo>
                  <a:lnTo>
                    <a:pt x="4433163" y="17678"/>
                  </a:lnTo>
                  <a:lnTo>
                    <a:pt x="4450842" y="60357"/>
                  </a:lnTo>
                  <a:lnTo>
                    <a:pt x="4450842" y="3334351"/>
                  </a:lnTo>
                  <a:lnTo>
                    <a:pt x="4446098" y="3357846"/>
                  </a:lnTo>
                  <a:lnTo>
                    <a:pt x="4433163" y="3377031"/>
                  </a:lnTo>
                  <a:lnTo>
                    <a:pt x="4413978" y="3389966"/>
                  </a:lnTo>
                  <a:lnTo>
                    <a:pt x="4390484" y="3394710"/>
                  </a:lnTo>
                  <a:close/>
                </a:path>
              </a:pathLst>
            </a:custGeom>
            <a:solidFill>
              <a:srgbClr val="FFF1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56097" y="188595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89" h="377189">
                  <a:moveTo>
                    <a:pt x="188594" y="377189"/>
                  </a:moveTo>
                  <a:lnTo>
                    <a:pt x="138458" y="370453"/>
                  </a:lnTo>
                  <a:lnTo>
                    <a:pt x="93407" y="351441"/>
                  </a:lnTo>
                  <a:lnTo>
                    <a:pt x="55238" y="321951"/>
                  </a:lnTo>
                  <a:lnTo>
                    <a:pt x="25748" y="283782"/>
                  </a:lnTo>
                  <a:lnTo>
                    <a:pt x="6736" y="238731"/>
                  </a:lnTo>
                  <a:lnTo>
                    <a:pt x="0" y="188594"/>
                  </a:lnTo>
                  <a:lnTo>
                    <a:pt x="6736" y="138458"/>
                  </a:lnTo>
                  <a:lnTo>
                    <a:pt x="25748" y="93407"/>
                  </a:lnTo>
                  <a:lnTo>
                    <a:pt x="55238" y="55238"/>
                  </a:lnTo>
                  <a:lnTo>
                    <a:pt x="93407" y="25748"/>
                  </a:lnTo>
                  <a:lnTo>
                    <a:pt x="138458" y="6736"/>
                  </a:lnTo>
                  <a:lnTo>
                    <a:pt x="188594" y="0"/>
                  </a:lnTo>
                  <a:lnTo>
                    <a:pt x="225560" y="3657"/>
                  </a:lnTo>
                  <a:lnTo>
                    <a:pt x="293227" y="31686"/>
                  </a:lnTo>
                  <a:lnTo>
                    <a:pt x="345503" y="83962"/>
                  </a:lnTo>
                  <a:lnTo>
                    <a:pt x="373532" y="151630"/>
                  </a:lnTo>
                  <a:lnTo>
                    <a:pt x="377189" y="188594"/>
                  </a:lnTo>
                  <a:lnTo>
                    <a:pt x="370453" y="238731"/>
                  </a:lnTo>
                  <a:lnTo>
                    <a:pt x="351441" y="283782"/>
                  </a:lnTo>
                  <a:lnTo>
                    <a:pt x="321951" y="321951"/>
                  </a:lnTo>
                  <a:lnTo>
                    <a:pt x="283782" y="351441"/>
                  </a:lnTo>
                  <a:lnTo>
                    <a:pt x="238731" y="370453"/>
                  </a:lnTo>
                  <a:lnTo>
                    <a:pt x="188594" y="377189"/>
                  </a:lnTo>
                  <a:close/>
                </a:path>
              </a:pathLst>
            </a:custGeom>
            <a:solidFill>
              <a:srgbClr val="B84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2994" y="2018586"/>
              <a:ext cx="112070" cy="14803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369591" y="1936271"/>
            <a:ext cx="3859529" cy="17456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B84F41"/>
                </a:solidFill>
                <a:latin typeface="Cambria"/>
                <a:cs typeface="Cambria"/>
              </a:rPr>
              <a:t>Limitations</a:t>
            </a:r>
            <a:endParaRPr sz="1450">
              <a:latin typeface="Cambria"/>
              <a:cs typeface="Cambria"/>
            </a:endParaRPr>
          </a:p>
          <a:p>
            <a:pPr marL="269240" indent="-256540">
              <a:lnSpc>
                <a:spcPct val="100000"/>
              </a:lnSpc>
              <a:spcBef>
                <a:spcPts val="1590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Consumes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server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memory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—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scales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poorly</a:t>
            </a:r>
            <a:r>
              <a:rPr sz="1050" spc="3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with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concurrent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users</a:t>
            </a:r>
            <a:endParaRPr sz="1050">
              <a:latin typeface="Calibri"/>
              <a:cs typeface="Calibri"/>
            </a:endParaRPr>
          </a:p>
          <a:p>
            <a:pPr marL="269240" marR="436880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Requires sticky sessions or replication in clustered / </a:t>
            </a:r>
            <a:r>
              <a:rPr sz="1050" spc="-20" dirty="0">
                <a:solidFill>
                  <a:srgbClr val="1D2133"/>
                </a:solidFill>
                <a:latin typeface="Calibri"/>
                <a:cs typeface="Calibri"/>
              </a:rPr>
              <a:t>load-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balanced</a:t>
            </a:r>
            <a:r>
              <a:rPr sz="1050" spc="3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deployments</a:t>
            </a:r>
            <a:endParaRPr sz="105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844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Still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depends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cookie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or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rewritten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URL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to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carry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session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D2133"/>
                </a:solidFill>
                <a:latin typeface="Calibri"/>
                <a:cs typeface="Calibri"/>
              </a:rPr>
              <a:t>ID</a:t>
            </a:r>
            <a:endParaRPr sz="1050">
              <a:latin typeface="Calibri"/>
              <a:cs typeface="Calibri"/>
            </a:endParaRPr>
          </a:p>
          <a:p>
            <a:pPr marL="269240" marR="512445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Session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hijacking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possible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if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session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ID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is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exposed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D2133"/>
                </a:solidFill>
                <a:latin typeface="Calibri"/>
                <a:cs typeface="Calibri"/>
              </a:rPr>
              <a:t>or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predictable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678" y="80152"/>
            <a:ext cx="936470" cy="110787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92628" y="80152"/>
            <a:ext cx="1254093" cy="11078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558" rIns="0" bIns="0" rtlCol="0">
            <a:spAutoFit/>
          </a:bodyPr>
          <a:lstStyle/>
          <a:p>
            <a:pPr marL="74485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Cookies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627" y="1621916"/>
            <a:ext cx="4451350" cy="3394710"/>
            <a:chOff x="452627" y="1621916"/>
            <a:chExt cx="4451350" cy="3394710"/>
          </a:xfrm>
        </p:grpSpPr>
        <p:sp>
          <p:nvSpPr>
            <p:cNvPr id="4" name="object 4"/>
            <p:cNvSpPr/>
            <p:nvPr/>
          </p:nvSpPr>
          <p:spPr>
            <a:xfrm>
              <a:off x="452627" y="1621916"/>
              <a:ext cx="4451350" cy="3394710"/>
            </a:xfrm>
            <a:custGeom>
              <a:avLst/>
              <a:gdLst/>
              <a:ahLst/>
              <a:cxnLst/>
              <a:rect l="l" t="t" r="r" b="b"/>
              <a:pathLst>
                <a:path w="4451350" h="3394710">
                  <a:moveTo>
                    <a:pt x="4390483" y="3394710"/>
                  </a:moveTo>
                  <a:lnTo>
                    <a:pt x="60357" y="3394710"/>
                  </a:lnTo>
                  <a:lnTo>
                    <a:pt x="36863" y="3389966"/>
                  </a:lnTo>
                  <a:lnTo>
                    <a:pt x="17678" y="3377031"/>
                  </a:lnTo>
                  <a:lnTo>
                    <a:pt x="4743" y="3357846"/>
                  </a:lnTo>
                  <a:lnTo>
                    <a:pt x="0" y="3334351"/>
                  </a:lnTo>
                  <a:lnTo>
                    <a:pt x="0" y="60357"/>
                  </a:lnTo>
                  <a:lnTo>
                    <a:pt x="4743" y="36863"/>
                  </a:lnTo>
                  <a:lnTo>
                    <a:pt x="17678" y="17678"/>
                  </a:lnTo>
                  <a:lnTo>
                    <a:pt x="36863" y="4743"/>
                  </a:lnTo>
                  <a:lnTo>
                    <a:pt x="60357" y="0"/>
                  </a:lnTo>
                  <a:lnTo>
                    <a:pt x="4390483" y="0"/>
                  </a:lnTo>
                  <a:lnTo>
                    <a:pt x="4433163" y="17678"/>
                  </a:lnTo>
                  <a:lnTo>
                    <a:pt x="4450841" y="60357"/>
                  </a:lnTo>
                  <a:lnTo>
                    <a:pt x="4450841" y="3334351"/>
                  </a:lnTo>
                  <a:lnTo>
                    <a:pt x="4446098" y="3357846"/>
                  </a:lnTo>
                  <a:lnTo>
                    <a:pt x="4433163" y="3377031"/>
                  </a:lnTo>
                  <a:lnTo>
                    <a:pt x="4413977" y="3389966"/>
                  </a:lnTo>
                  <a:lnTo>
                    <a:pt x="4390483" y="3394710"/>
                  </a:lnTo>
                  <a:close/>
                </a:path>
              </a:pathLst>
            </a:custGeom>
            <a:solidFill>
              <a:srgbClr val="F1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6660" y="188595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188594" y="377189"/>
                  </a:moveTo>
                  <a:lnTo>
                    <a:pt x="138458" y="370453"/>
                  </a:lnTo>
                  <a:lnTo>
                    <a:pt x="93407" y="351441"/>
                  </a:lnTo>
                  <a:lnTo>
                    <a:pt x="55238" y="321951"/>
                  </a:lnTo>
                  <a:lnTo>
                    <a:pt x="25748" y="283782"/>
                  </a:lnTo>
                  <a:lnTo>
                    <a:pt x="6736" y="238731"/>
                  </a:lnTo>
                  <a:lnTo>
                    <a:pt x="0" y="188594"/>
                  </a:lnTo>
                  <a:lnTo>
                    <a:pt x="6736" y="138458"/>
                  </a:lnTo>
                  <a:lnTo>
                    <a:pt x="25748" y="93407"/>
                  </a:lnTo>
                  <a:lnTo>
                    <a:pt x="55238" y="55238"/>
                  </a:lnTo>
                  <a:lnTo>
                    <a:pt x="93407" y="25748"/>
                  </a:lnTo>
                  <a:lnTo>
                    <a:pt x="138458" y="6736"/>
                  </a:lnTo>
                  <a:lnTo>
                    <a:pt x="188594" y="0"/>
                  </a:lnTo>
                  <a:lnTo>
                    <a:pt x="225559" y="3657"/>
                  </a:lnTo>
                  <a:lnTo>
                    <a:pt x="293227" y="31686"/>
                  </a:lnTo>
                  <a:lnTo>
                    <a:pt x="345503" y="83962"/>
                  </a:lnTo>
                  <a:lnTo>
                    <a:pt x="373532" y="151630"/>
                  </a:lnTo>
                  <a:lnTo>
                    <a:pt x="377189" y="188594"/>
                  </a:lnTo>
                  <a:lnTo>
                    <a:pt x="370453" y="238731"/>
                  </a:lnTo>
                  <a:lnTo>
                    <a:pt x="351441" y="283782"/>
                  </a:lnTo>
                  <a:lnTo>
                    <a:pt x="321951" y="321951"/>
                  </a:lnTo>
                  <a:lnTo>
                    <a:pt x="283782" y="351441"/>
                  </a:lnTo>
                  <a:lnTo>
                    <a:pt x="238731" y="370453"/>
                  </a:lnTo>
                  <a:lnTo>
                    <a:pt x="188594" y="377189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469" y="1993078"/>
              <a:ext cx="143426" cy="1604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30154" y="1936271"/>
            <a:ext cx="3830954" cy="17456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1D2661"/>
                </a:solidFill>
                <a:latin typeface="Cambria"/>
                <a:cs typeface="Cambria"/>
              </a:rPr>
              <a:t>Advantages</a:t>
            </a:r>
            <a:endParaRPr sz="1450">
              <a:latin typeface="Cambria"/>
              <a:cs typeface="Cambria"/>
            </a:endParaRPr>
          </a:p>
          <a:p>
            <a:pPr marL="269240" marR="5080" indent="-257175">
              <a:lnSpc>
                <a:spcPct val="103099"/>
              </a:lnSpc>
              <a:spcBef>
                <a:spcPts val="1550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Persists across browser restarts if given an expiry date (unlike </a:t>
            </a:r>
            <a:r>
              <a:rPr sz="1050" spc="-25" dirty="0">
                <a:solidFill>
                  <a:srgbClr val="1D2133"/>
                </a:solidFill>
                <a:latin typeface="Calibri"/>
                <a:cs typeface="Calibri"/>
              </a:rPr>
              <a:t>in-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memory</a:t>
            </a:r>
            <a:r>
              <a:rPr sz="1050" spc="6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session)</a:t>
            </a:r>
            <a:endParaRPr sz="105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844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Low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server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overhead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—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state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can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live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entirely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on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client</a:t>
            </a:r>
            <a:endParaRPr sz="105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844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Simple,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widely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supported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by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every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browser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and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framework</a:t>
            </a:r>
            <a:endParaRPr sz="1050">
              <a:latin typeface="Calibri"/>
              <a:cs typeface="Calibri"/>
            </a:endParaRPr>
          </a:p>
          <a:p>
            <a:pPr marL="269240" marR="224154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Can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scoped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to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domain/path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and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shared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across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requests automatically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92065" y="1621916"/>
            <a:ext cx="4451350" cy="3394710"/>
            <a:chOff x="5092065" y="1621916"/>
            <a:chExt cx="4451350" cy="3394710"/>
          </a:xfrm>
        </p:grpSpPr>
        <p:sp>
          <p:nvSpPr>
            <p:cNvPr id="9" name="object 9"/>
            <p:cNvSpPr/>
            <p:nvPr/>
          </p:nvSpPr>
          <p:spPr>
            <a:xfrm>
              <a:off x="5092065" y="1621916"/>
              <a:ext cx="4451350" cy="3394710"/>
            </a:xfrm>
            <a:custGeom>
              <a:avLst/>
              <a:gdLst/>
              <a:ahLst/>
              <a:cxnLst/>
              <a:rect l="l" t="t" r="r" b="b"/>
              <a:pathLst>
                <a:path w="4451350" h="3394710">
                  <a:moveTo>
                    <a:pt x="4390484" y="3394710"/>
                  </a:moveTo>
                  <a:lnTo>
                    <a:pt x="60358" y="3394710"/>
                  </a:lnTo>
                  <a:lnTo>
                    <a:pt x="36863" y="3389966"/>
                  </a:lnTo>
                  <a:lnTo>
                    <a:pt x="17678" y="3377031"/>
                  </a:lnTo>
                  <a:lnTo>
                    <a:pt x="4743" y="3357846"/>
                  </a:lnTo>
                  <a:lnTo>
                    <a:pt x="0" y="3334351"/>
                  </a:lnTo>
                  <a:lnTo>
                    <a:pt x="0" y="60357"/>
                  </a:lnTo>
                  <a:lnTo>
                    <a:pt x="4743" y="36863"/>
                  </a:lnTo>
                  <a:lnTo>
                    <a:pt x="17678" y="17678"/>
                  </a:lnTo>
                  <a:lnTo>
                    <a:pt x="36863" y="4743"/>
                  </a:lnTo>
                  <a:lnTo>
                    <a:pt x="60358" y="0"/>
                  </a:lnTo>
                  <a:lnTo>
                    <a:pt x="4390484" y="0"/>
                  </a:lnTo>
                  <a:lnTo>
                    <a:pt x="4433163" y="17678"/>
                  </a:lnTo>
                  <a:lnTo>
                    <a:pt x="4450842" y="60357"/>
                  </a:lnTo>
                  <a:lnTo>
                    <a:pt x="4450842" y="3334351"/>
                  </a:lnTo>
                  <a:lnTo>
                    <a:pt x="4446098" y="3357846"/>
                  </a:lnTo>
                  <a:lnTo>
                    <a:pt x="4433163" y="3377031"/>
                  </a:lnTo>
                  <a:lnTo>
                    <a:pt x="4413978" y="3389966"/>
                  </a:lnTo>
                  <a:lnTo>
                    <a:pt x="4390484" y="3394710"/>
                  </a:lnTo>
                  <a:close/>
                </a:path>
              </a:pathLst>
            </a:custGeom>
            <a:solidFill>
              <a:srgbClr val="FFF1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56097" y="188595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89" h="377189">
                  <a:moveTo>
                    <a:pt x="188594" y="377189"/>
                  </a:moveTo>
                  <a:lnTo>
                    <a:pt x="138458" y="370453"/>
                  </a:lnTo>
                  <a:lnTo>
                    <a:pt x="93407" y="351441"/>
                  </a:lnTo>
                  <a:lnTo>
                    <a:pt x="55238" y="321951"/>
                  </a:lnTo>
                  <a:lnTo>
                    <a:pt x="25748" y="283782"/>
                  </a:lnTo>
                  <a:lnTo>
                    <a:pt x="6736" y="238731"/>
                  </a:lnTo>
                  <a:lnTo>
                    <a:pt x="0" y="188594"/>
                  </a:lnTo>
                  <a:lnTo>
                    <a:pt x="6736" y="138458"/>
                  </a:lnTo>
                  <a:lnTo>
                    <a:pt x="25748" y="93407"/>
                  </a:lnTo>
                  <a:lnTo>
                    <a:pt x="55238" y="55238"/>
                  </a:lnTo>
                  <a:lnTo>
                    <a:pt x="93407" y="25748"/>
                  </a:lnTo>
                  <a:lnTo>
                    <a:pt x="138458" y="6736"/>
                  </a:lnTo>
                  <a:lnTo>
                    <a:pt x="188594" y="0"/>
                  </a:lnTo>
                  <a:lnTo>
                    <a:pt x="225560" y="3657"/>
                  </a:lnTo>
                  <a:lnTo>
                    <a:pt x="293227" y="31686"/>
                  </a:lnTo>
                  <a:lnTo>
                    <a:pt x="345503" y="83962"/>
                  </a:lnTo>
                  <a:lnTo>
                    <a:pt x="373532" y="151630"/>
                  </a:lnTo>
                  <a:lnTo>
                    <a:pt x="377189" y="188594"/>
                  </a:lnTo>
                  <a:lnTo>
                    <a:pt x="370453" y="238731"/>
                  </a:lnTo>
                  <a:lnTo>
                    <a:pt x="351441" y="283782"/>
                  </a:lnTo>
                  <a:lnTo>
                    <a:pt x="321951" y="321951"/>
                  </a:lnTo>
                  <a:lnTo>
                    <a:pt x="283782" y="351441"/>
                  </a:lnTo>
                  <a:lnTo>
                    <a:pt x="238731" y="370453"/>
                  </a:lnTo>
                  <a:lnTo>
                    <a:pt x="188594" y="377189"/>
                  </a:lnTo>
                  <a:close/>
                </a:path>
              </a:pathLst>
            </a:custGeom>
            <a:solidFill>
              <a:srgbClr val="B84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2994" y="2018586"/>
              <a:ext cx="112070" cy="14803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369591" y="1936271"/>
            <a:ext cx="3858895" cy="17456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B84F41"/>
                </a:solidFill>
                <a:latin typeface="Cambria"/>
                <a:cs typeface="Cambria"/>
              </a:rPr>
              <a:t>Limitations</a:t>
            </a:r>
            <a:endParaRPr sz="1450">
              <a:latin typeface="Cambria"/>
              <a:cs typeface="Cambria"/>
            </a:endParaRPr>
          </a:p>
          <a:p>
            <a:pPr marL="269240" indent="-256540">
              <a:lnSpc>
                <a:spcPct val="100000"/>
              </a:lnSpc>
              <a:spcBef>
                <a:spcPts val="1590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Users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can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disable,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block,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or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manually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clear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cookies</a:t>
            </a:r>
            <a:endParaRPr sz="1050">
              <a:latin typeface="Calibri"/>
              <a:cs typeface="Calibri"/>
            </a:endParaRPr>
          </a:p>
          <a:p>
            <a:pPr marL="269240" marR="208915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Vulnerable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to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theft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via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XSS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or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network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sniffing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unless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Secure/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HttpOnly/SameSite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flags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are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D2133"/>
                </a:solidFill>
                <a:latin typeface="Calibri"/>
                <a:cs typeface="Calibri"/>
              </a:rPr>
              <a:t>set</a:t>
            </a:r>
            <a:endParaRPr sz="105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844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Limited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storage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(~4KB)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and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count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per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domain</a:t>
            </a:r>
            <a:endParaRPr sz="1050">
              <a:latin typeface="Calibri"/>
              <a:cs typeface="Calibri"/>
            </a:endParaRPr>
          </a:p>
          <a:p>
            <a:pPr marL="269240" marR="5080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Susceptible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to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cross-site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request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forgery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(CSRF)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if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not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paired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1D2133"/>
                </a:solidFill>
                <a:latin typeface="Calibri"/>
                <a:cs typeface="Calibri"/>
              </a:rPr>
              <a:t>with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tokens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678" y="80152"/>
            <a:ext cx="936470" cy="110787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92628" y="80152"/>
            <a:ext cx="1254093" cy="11078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996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90"/>
              </a:spcBef>
            </a:pPr>
            <a:r>
              <a:rPr dirty="0"/>
              <a:t>URL</a:t>
            </a:r>
            <a:r>
              <a:rPr spc="-60" dirty="0"/>
              <a:t> </a:t>
            </a:r>
            <a:r>
              <a:rPr spc="-10" dirty="0"/>
              <a:t>Rewriting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2627" y="1621916"/>
            <a:ext cx="4451350" cy="3394710"/>
            <a:chOff x="452627" y="1621916"/>
            <a:chExt cx="4451350" cy="3394710"/>
          </a:xfrm>
        </p:grpSpPr>
        <p:sp>
          <p:nvSpPr>
            <p:cNvPr id="4" name="object 4"/>
            <p:cNvSpPr/>
            <p:nvPr/>
          </p:nvSpPr>
          <p:spPr>
            <a:xfrm>
              <a:off x="452627" y="1621916"/>
              <a:ext cx="4451350" cy="3394710"/>
            </a:xfrm>
            <a:custGeom>
              <a:avLst/>
              <a:gdLst/>
              <a:ahLst/>
              <a:cxnLst/>
              <a:rect l="l" t="t" r="r" b="b"/>
              <a:pathLst>
                <a:path w="4451350" h="3394710">
                  <a:moveTo>
                    <a:pt x="4390483" y="3394710"/>
                  </a:moveTo>
                  <a:lnTo>
                    <a:pt x="60357" y="3394710"/>
                  </a:lnTo>
                  <a:lnTo>
                    <a:pt x="36863" y="3389966"/>
                  </a:lnTo>
                  <a:lnTo>
                    <a:pt x="17678" y="3377031"/>
                  </a:lnTo>
                  <a:lnTo>
                    <a:pt x="4743" y="3357846"/>
                  </a:lnTo>
                  <a:lnTo>
                    <a:pt x="0" y="3334351"/>
                  </a:lnTo>
                  <a:lnTo>
                    <a:pt x="0" y="60357"/>
                  </a:lnTo>
                  <a:lnTo>
                    <a:pt x="4743" y="36863"/>
                  </a:lnTo>
                  <a:lnTo>
                    <a:pt x="17678" y="17678"/>
                  </a:lnTo>
                  <a:lnTo>
                    <a:pt x="36863" y="4743"/>
                  </a:lnTo>
                  <a:lnTo>
                    <a:pt x="60357" y="0"/>
                  </a:lnTo>
                  <a:lnTo>
                    <a:pt x="4390483" y="0"/>
                  </a:lnTo>
                  <a:lnTo>
                    <a:pt x="4433163" y="17678"/>
                  </a:lnTo>
                  <a:lnTo>
                    <a:pt x="4450841" y="60357"/>
                  </a:lnTo>
                  <a:lnTo>
                    <a:pt x="4450841" y="3334351"/>
                  </a:lnTo>
                  <a:lnTo>
                    <a:pt x="4446098" y="3357846"/>
                  </a:lnTo>
                  <a:lnTo>
                    <a:pt x="4433163" y="3377031"/>
                  </a:lnTo>
                  <a:lnTo>
                    <a:pt x="4413977" y="3389966"/>
                  </a:lnTo>
                  <a:lnTo>
                    <a:pt x="4390483" y="3394710"/>
                  </a:lnTo>
                  <a:close/>
                </a:path>
              </a:pathLst>
            </a:custGeom>
            <a:solidFill>
              <a:srgbClr val="F1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6660" y="188595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188594" y="377189"/>
                  </a:moveTo>
                  <a:lnTo>
                    <a:pt x="138458" y="370453"/>
                  </a:lnTo>
                  <a:lnTo>
                    <a:pt x="93407" y="351441"/>
                  </a:lnTo>
                  <a:lnTo>
                    <a:pt x="55238" y="321951"/>
                  </a:lnTo>
                  <a:lnTo>
                    <a:pt x="25748" y="283782"/>
                  </a:lnTo>
                  <a:lnTo>
                    <a:pt x="6736" y="238731"/>
                  </a:lnTo>
                  <a:lnTo>
                    <a:pt x="0" y="188594"/>
                  </a:lnTo>
                  <a:lnTo>
                    <a:pt x="6736" y="138458"/>
                  </a:lnTo>
                  <a:lnTo>
                    <a:pt x="25748" y="93407"/>
                  </a:lnTo>
                  <a:lnTo>
                    <a:pt x="55238" y="55238"/>
                  </a:lnTo>
                  <a:lnTo>
                    <a:pt x="93407" y="25748"/>
                  </a:lnTo>
                  <a:lnTo>
                    <a:pt x="138458" y="6736"/>
                  </a:lnTo>
                  <a:lnTo>
                    <a:pt x="188594" y="0"/>
                  </a:lnTo>
                  <a:lnTo>
                    <a:pt x="225559" y="3657"/>
                  </a:lnTo>
                  <a:lnTo>
                    <a:pt x="293227" y="31686"/>
                  </a:lnTo>
                  <a:lnTo>
                    <a:pt x="345503" y="83962"/>
                  </a:lnTo>
                  <a:lnTo>
                    <a:pt x="373532" y="151630"/>
                  </a:lnTo>
                  <a:lnTo>
                    <a:pt x="377189" y="188594"/>
                  </a:lnTo>
                  <a:lnTo>
                    <a:pt x="370453" y="238731"/>
                  </a:lnTo>
                  <a:lnTo>
                    <a:pt x="351441" y="283782"/>
                  </a:lnTo>
                  <a:lnTo>
                    <a:pt x="321951" y="321951"/>
                  </a:lnTo>
                  <a:lnTo>
                    <a:pt x="283782" y="351441"/>
                  </a:lnTo>
                  <a:lnTo>
                    <a:pt x="238731" y="370453"/>
                  </a:lnTo>
                  <a:lnTo>
                    <a:pt x="188594" y="377189"/>
                  </a:lnTo>
                  <a:close/>
                </a:path>
              </a:pathLst>
            </a:custGeom>
            <a:solidFill>
              <a:srgbClr val="1D26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469" y="1993078"/>
              <a:ext cx="143426" cy="1604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30154" y="1936271"/>
            <a:ext cx="3593465" cy="1580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1D2661"/>
                </a:solidFill>
                <a:latin typeface="Cambria"/>
                <a:cs typeface="Cambria"/>
              </a:rPr>
              <a:t>Advantages</a:t>
            </a:r>
            <a:endParaRPr sz="1450">
              <a:latin typeface="Cambria"/>
              <a:cs typeface="Cambria"/>
            </a:endParaRPr>
          </a:p>
          <a:p>
            <a:pPr marL="269240" indent="-256540">
              <a:lnSpc>
                <a:spcPct val="100000"/>
              </a:lnSpc>
              <a:spcBef>
                <a:spcPts val="1590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Works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when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cookies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are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completely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disabled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browser</a:t>
            </a:r>
            <a:endParaRPr sz="105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844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No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client-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side</a:t>
            </a:r>
            <a:r>
              <a:rPr sz="1050" spc="3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storage</a:t>
            </a:r>
            <a:r>
              <a:rPr sz="1050" spc="3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dependency</a:t>
            </a:r>
            <a:r>
              <a:rPr sz="1050" spc="3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—</a:t>
            </a:r>
            <a:r>
              <a:rPr sz="1050" spc="3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fully</a:t>
            </a:r>
            <a:r>
              <a:rPr sz="1050" spc="3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server-driven</a:t>
            </a:r>
            <a:endParaRPr sz="1050">
              <a:latin typeface="Calibri"/>
              <a:cs typeface="Calibri"/>
            </a:endParaRPr>
          </a:p>
          <a:p>
            <a:pPr marL="269240" marR="188595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Simple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fallback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mechanism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supported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natively</a:t>
            </a:r>
            <a:r>
              <a:rPr sz="1050" spc="2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by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servlet containers</a:t>
            </a:r>
            <a:endParaRPr sz="105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840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Useful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for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stateless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clients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or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bots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that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don't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retain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cookies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92065" y="1621916"/>
            <a:ext cx="4451350" cy="3394710"/>
            <a:chOff x="5092065" y="1621916"/>
            <a:chExt cx="4451350" cy="3394710"/>
          </a:xfrm>
        </p:grpSpPr>
        <p:sp>
          <p:nvSpPr>
            <p:cNvPr id="9" name="object 9"/>
            <p:cNvSpPr/>
            <p:nvPr/>
          </p:nvSpPr>
          <p:spPr>
            <a:xfrm>
              <a:off x="5092065" y="1621916"/>
              <a:ext cx="4451350" cy="3394710"/>
            </a:xfrm>
            <a:custGeom>
              <a:avLst/>
              <a:gdLst/>
              <a:ahLst/>
              <a:cxnLst/>
              <a:rect l="l" t="t" r="r" b="b"/>
              <a:pathLst>
                <a:path w="4451350" h="3394710">
                  <a:moveTo>
                    <a:pt x="4390484" y="3394710"/>
                  </a:moveTo>
                  <a:lnTo>
                    <a:pt x="60358" y="3394710"/>
                  </a:lnTo>
                  <a:lnTo>
                    <a:pt x="36863" y="3389966"/>
                  </a:lnTo>
                  <a:lnTo>
                    <a:pt x="17678" y="3377031"/>
                  </a:lnTo>
                  <a:lnTo>
                    <a:pt x="4743" y="3357846"/>
                  </a:lnTo>
                  <a:lnTo>
                    <a:pt x="0" y="3334351"/>
                  </a:lnTo>
                  <a:lnTo>
                    <a:pt x="0" y="60357"/>
                  </a:lnTo>
                  <a:lnTo>
                    <a:pt x="4743" y="36863"/>
                  </a:lnTo>
                  <a:lnTo>
                    <a:pt x="17678" y="17678"/>
                  </a:lnTo>
                  <a:lnTo>
                    <a:pt x="36863" y="4743"/>
                  </a:lnTo>
                  <a:lnTo>
                    <a:pt x="60358" y="0"/>
                  </a:lnTo>
                  <a:lnTo>
                    <a:pt x="4390484" y="0"/>
                  </a:lnTo>
                  <a:lnTo>
                    <a:pt x="4433163" y="17678"/>
                  </a:lnTo>
                  <a:lnTo>
                    <a:pt x="4450842" y="60357"/>
                  </a:lnTo>
                  <a:lnTo>
                    <a:pt x="4450842" y="3334351"/>
                  </a:lnTo>
                  <a:lnTo>
                    <a:pt x="4446098" y="3357846"/>
                  </a:lnTo>
                  <a:lnTo>
                    <a:pt x="4433163" y="3377031"/>
                  </a:lnTo>
                  <a:lnTo>
                    <a:pt x="4413978" y="3389966"/>
                  </a:lnTo>
                  <a:lnTo>
                    <a:pt x="4390484" y="3394710"/>
                  </a:lnTo>
                  <a:close/>
                </a:path>
              </a:pathLst>
            </a:custGeom>
            <a:solidFill>
              <a:srgbClr val="FFF1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56097" y="188595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89" h="377189">
                  <a:moveTo>
                    <a:pt x="188594" y="377189"/>
                  </a:moveTo>
                  <a:lnTo>
                    <a:pt x="138458" y="370453"/>
                  </a:lnTo>
                  <a:lnTo>
                    <a:pt x="93407" y="351441"/>
                  </a:lnTo>
                  <a:lnTo>
                    <a:pt x="55238" y="321951"/>
                  </a:lnTo>
                  <a:lnTo>
                    <a:pt x="25748" y="283782"/>
                  </a:lnTo>
                  <a:lnTo>
                    <a:pt x="6736" y="238731"/>
                  </a:lnTo>
                  <a:lnTo>
                    <a:pt x="0" y="188594"/>
                  </a:lnTo>
                  <a:lnTo>
                    <a:pt x="6736" y="138458"/>
                  </a:lnTo>
                  <a:lnTo>
                    <a:pt x="25748" y="93407"/>
                  </a:lnTo>
                  <a:lnTo>
                    <a:pt x="55238" y="55238"/>
                  </a:lnTo>
                  <a:lnTo>
                    <a:pt x="93407" y="25748"/>
                  </a:lnTo>
                  <a:lnTo>
                    <a:pt x="138458" y="6736"/>
                  </a:lnTo>
                  <a:lnTo>
                    <a:pt x="188594" y="0"/>
                  </a:lnTo>
                  <a:lnTo>
                    <a:pt x="225560" y="3657"/>
                  </a:lnTo>
                  <a:lnTo>
                    <a:pt x="293227" y="31686"/>
                  </a:lnTo>
                  <a:lnTo>
                    <a:pt x="345503" y="83962"/>
                  </a:lnTo>
                  <a:lnTo>
                    <a:pt x="373532" y="151630"/>
                  </a:lnTo>
                  <a:lnTo>
                    <a:pt x="377189" y="188594"/>
                  </a:lnTo>
                  <a:lnTo>
                    <a:pt x="370453" y="238731"/>
                  </a:lnTo>
                  <a:lnTo>
                    <a:pt x="351441" y="283782"/>
                  </a:lnTo>
                  <a:lnTo>
                    <a:pt x="321951" y="321951"/>
                  </a:lnTo>
                  <a:lnTo>
                    <a:pt x="283782" y="351441"/>
                  </a:lnTo>
                  <a:lnTo>
                    <a:pt x="238731" y="370453"/>
                  </a:lnTo>
                  <a:lnTo>
                    <a:pt x="188594" y="377189"/>
                  </a:lnTo>
                  <a:close/>
                </a:path>
              </a:pathLst>
            </a:custGeom>
            <a:solidFill>
              <a:srgbClr val="B84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2994" y="2018586"/>
              <a:ext cx="112070" cy="14803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369591" y="1936271"/>
            <a:ext cx="3917950" cy="20751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B84F41"/>
                </a:solidFill>
                <a:latin typeface="Cambria"/>
                <a:cs typeface="Cambria"/>
              </a:rPr>
              <a:t>Limitations</a:t>
            </a:r>
            <a:endParaRPr sz="1450">
              <a:latin typeface="Cambria"/>
              <a:cs typeface="Cambria"/>
            </a:endParaRPr>
          </a:p>
          <a:p>
            <a:pPr marL="269240" marR="5080" indent="-257175">
              <a:lnSpc>
                <a:spcPct val="103099"/>
              </a:lnSpc>
              <a:spcBef>
                <a:spcPts val="1550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Session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ID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is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visible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in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URL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—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exposed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in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browser</a:t>
            </a:r>
            <a:r>
              <a:rPr sz="1050" spc="1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history,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logs,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and referrer</a:t>
            </a:r>
            <a:r>
              <a:rPr sz="1050" spc="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headers</a:t>
            </a:r>
            <a:endParaRPr sz="1050">
              <a:latin typeface="Calibri"/>
              <a:cs typeface="Calibri"/>
            </a:endParaRPr>
          </a:p>
          <a:p>
            <a:pPr marL="269240" marR="481330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Every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internal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link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must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manually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rewritten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(response. encodeURL())</a:t>
            </a:r>
            <a:endParaRPr sz="1050">
              <a:latin typeface="Calibri"/>
              <a:cs typeface="Calibri"/>
            </a:endParaRPr>
          </a:p>
          <a:p>
            <a:pPr marL="269240" marR="316865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Broken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or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shared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links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can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leak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session,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enabling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session fixation/hijacking</a:t>
            </a:r>
            <a:endParaRPr sz="1050">
              <a:latin typeface="Calibri"/>
              <a:cs typeface="Calibri"/>
            </a:endParaRPr>
          </a:p>
          <a:p>
            <a:pPr marL="269240" marR="483234" indent="-257175">
              <a:lnSpc>
                <a:spcPct val="103099"/>
              </a:lnSpc>
              <a:spcBef>
                <a:spcPts val="805"/>
              </a:spcBef>
              <a:buChar char="•"/>
              <a:tabLst>
                <a:tab pos="269240" algn="l"/>
              </a:tabLst>
            </a:pP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Cannot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persist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across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sessions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—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lost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once</a:t>
            </a:r>
            <a:r>
              <a:rPr sz="1050" spc="15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the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1D2133"/>
                </a:solidFill>
                <a:latin typeface="Calibri"/>
                <a:cs typeface="Calibri"/>
              </a:rPr>
              <a:t>URL/tab</a:t>
            </a:r>
            <a:r>
              <a:rPr sz="1050" spc="20" dirty="0">
                <a:solidFill>
                  <a:srgbClr val="1D213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1D2133"/>
                </a:solidFill>
                <a:latin typeface="Calibri"/>
                <a:cs typeface="Calibri"/>
              </a:rPr>
              <a:t>is </a:t>
            </a:r>
            <a:r>
              <a:rPr sz="1050" spc="-10" dirty="0">
                <a:solidFill>
                  <a:srgbClr val="1D2133"/>
                </a:solidFill>
                <a:latin typeface="Calibri"/>
                <a:cs typeface="Calibri"/>
              </a:rPr>
              <a:t>discarded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678" y="80152"/>
            <a:ext cx="936470" cy="110787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92628" y="80152"/>
            <a:ext cx="1254093" cy="11078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058400" cy="5657850"/>
          </a:xfrm>
          <a:custGeom>
            <a:avLst/>
            <a:gdLst/>
            <a:ahLst/>
            <a:cxnLst/>
            <a:rect l="l" t="t" r="r" b="b"/>
            <a:pathLst>
              <a:path w="10058400" h="5657850">
                <a:moveTo>
                  <a:pt x="10058399" y="5657849"/>
                </a:moveTo>
                <a:lnTo>
                  <a:pt x="0" y="5657849"/>
                </a:lnTo>
                <a:lnTo>
                  <a:pt x="0" y="0"/>
                </a:lnTo>
                <a:lnTo>
                  <a:pt x="10058399" y="0"/>
                </a:lnTo>
                <a:lnTo>
                  <a:pt x="10058399" y="5657849"/>
                </a:lnTo>
                <a:close/>
              </a:path>
            </a:pathLst>
          </a:custGeom>
          <a:solidFill>
            <a:srgbClr val="1D26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50807" y="0"/>
            <a:ext cx="1308100" cy="1207135"/>
          </a:xfrm>
          <a:custGeom>
            <a:avLst/>
            <a:gdLst/>
            <a:ahLst/>
            <a:cxnLst/>
            <a:rect l="l" t="t" r="r" b="b"/>
            <a:pathLst>
              <a:path w="1308100" h="1207135">
                <a:moveTo>
                  <a:pt x="980694" y="1207007"/>
                </a:moveTo>
                <a:lnTo>
                  <a:pt x="933178" y="1205877"/>
                </a:lnTo>
                <a:lnTo>
                  <a:pt x="886247" y="1202518"/>
                </a:lnTo>
                <a:lnTo>
                  <a:pt x="839950" y="1196984"/>
                </a:lnTo>
                <a:lnTo>
                  <a:pt x="794339" y="1189324"/>
                </a:lnTo>
                <a:lnTo>
                  <a:pt x="749467" y="1179591"/>
                </a:lnTo>
                <a:lnTo>
                  <a:pt x="705383" y="1167836"/>
                </a:lnTo>
                <a:lnTo>
                  <a:pt x="662140" y="1154111"/>
                </a:lnTo>
                <a:lnTo>
                  <a:pt x="619789" y="1138466"/>
                </a:lnTo>
                <a:lnTo>
                  <a:pt x="578381" y="1120953"/>
                </a:lnTo>
                <a:lnTo>
                  <a:pt x="537967" y="1101624"/>
                </a:lnTo>
                <a:lnTo>
                  <a:pt x="498600" y="1080529"/>
                </a:lnTo>
                <a:lnTo>
                  <a:pt x="460330" y="1057720"/>
                </a:lnTo>
                <a:lnTo>
                  <a:pt x="423209" y="1033250"/>
                </a:lnTo>
                <a:lnTo>
                  <a:pt x="387288" y="1007168"/>
                </a:lnTo>
                <a:lnTo>
                  <a:pt x="352618" y="979526"/>
                </a:lnTo>
                <a:lnTo>
                  <a:pt x="319251" y="950376"/>
                </a:lnTo>
                <a:lnTo>
                  <a:pt x="287238" y="919769"/>
                </a:lnTo>
                <a:lnTo>
                  <a:pt x="256631" y="887756"/>
                </a:lnTo>
                <a:lnTo>
                  <a:pt x="227481" y="854389"/>
                </a:lnTo>
                <a:lnTo>
                  <a:pt x="199840" y="819720"/>
                </a:lnTo>
                <a:lnTo>
                  <a:pt x="173758" y="783799"/>
                </a:lnTo>
                <a:lnTo>
                  <a:pt x="149287" y="746677"/>
                </a:lnTo>
                <a:lnTo>
                  <a:pt x="126478" y="708407"/>
                </a:lnTo>
                <a:lnTo>
                  <a:pt x="105384" y="669040"/>
                </a:lnTo>
                <a:lnTo>
                  <a:pt x="86054" y="628627"/>
                </a:lnTo>
                <a:lnTo>
                  <a:pt x="68541" y="587219"/>
                </a:lnTo>
                <a:lnTo>
                  <a:pt x="52896" y="544868"/>
                </a:lnTo>
                <a:lnTo>
                  <a:pt x="39171" y="501624"/>
                </a:lnTo>
                <a:lnTo>
                  <a:pt x="27416" y="457541"/>
                </a:lnTo>
                <a:lnTo>
                  <a:pt x="17683" y="412668"/>
                </a:lnTo>
                <a:lnTo>
                  <a:pt x="10023" y="367058"/>
                </a:lnTo>
                <a:lnTo>
                  <a:pt x="4489" y="320761"/>
                </a:lnTo>
                <a:lnTo>
                  <a:pt x="1130" y="273829"/>
                </a:lnTo>
                <a:lnTo>
                  <a:pt x="0" y="226313"/>
                </a:lnTo>
                <a:lnTo>
                  <a:pt x="1130" y="178798"/>
                </a:lnTo>
                <a:lnTo>
                  <a:pt x="4489" y="131866"/>
                </a:lnTo>
                <a:lnTo>
                  <a:pt x="10023" y="85569"/>
                </a:lnTo>
                <a:lnTo>
                  <a:pt x="17683" y="39959"/>
                </a:lnTo>
                <a:lnTo>
                  <a:pt x="26350" y="0"/>
                </a:lnTo>
                <a:lnTo>
                  <a:pt x="1307592" y="0"/>
                </a:lnTo>
                <a:lnTo>
                  <a:pt x="1307592" y="1151028"/>
                </a:lnTo>
                <a:lnTo>
                  <a:pt x="1299248" y="1154111"/>
                </a:lnTo>
                <a:lnTo>
                  <a:pt x="1256005" y="1167836"/>
                </a:lnTo>
                <a:lnTo>
                  <a:pt x="1211921" y="1179591"/>
                </a:lnTo>
                <a:lnTo>
                  <a:pt x="1167049" y="1189324"/>
                </a:lnTo>
                <a:lnTo>
                  <a:pt x="1121438" y="1196984"/>
                </a:lnTo>
                <a:lnTo>
                  <a:pt x="1075141" y="1202518"/>
                </a:lnTo>
                <a:lnTo>
                  <a:pt x="1028209" y="1205877"/>
                </a:lnTo>
                <a:lnTo>
                  <a:pt x="980694" y="1207007"/>
                </a:lnTo>
                <a:close/>
              </a:path>
            </a:pathLst>
          </a:custGeom>
          <a:solidFill>
            <a:srgbClr val="3A45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9927" y="348774"/>
            <a:ext cx="3133090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>
                <a:solidFill>
                  <a:srgbClr val="FFFFFF"/>
                </a:solidFill>
              </a:rPr>
              <a:t>Use-Case</a:t>
            </a:r>
            <a:r>
              <a:rPr sz="2450" spc="20" dirty="0">
                <a:solidFill>
                  <a:srgbClr val="FFFFFF"/>
                </a:solidFill>
              </a:rPr>
              <a:t> </a:t>
            </a:r>
            <a:r>
              <a:rPr sz="2450" spc="-10" dirty="0">
                <a:solidFill>
                  <a:srgbClr val="FFFFFF"/>
                </a:solidFill>
              </a:rPr>
              <a:t>Comparison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439927" y="845145"/>
            <a:ext cx="478155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Choosing</a:t>
            </a:r>
            <a:r>
              <a:rPr sz="1050" spc="10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the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right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mechanism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depends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on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persistence,</a:t>
            </a:r>
            <a:r>
              <a:rPr sz="1050" spc="10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security,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and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CADBFB"/>
                </a:solidFill>
                <a:latin typeface="Calibri"/>
                <a:cs typeface="Calibri"/>
              </a:rPr>
              <a:t>client</a:t>
            </a:r>
            <a:r>
              <a:rPr sz="1050" spc="15" dirty="0">
                <a:solidFill>
                  <a:srgbClr val="CADBFB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CADBFB"/>
                </a:solidFill>
                <a:latin typeface="Calibri"/>
                <a:cs typeface="Calibri"/>
              </a:rPr>
              <a:t>constraints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2615" y="1961387"/>
            <a:ext cx="9128125" cy="679450"/>
          </a:xfrm>
          <a:custGeom>
            <a:avLst/>
            <a:gdLst/>
            <a:ahLst/>
            <a:cxnLst/>
            <a:rect l="l" t="t" r="r" b="b"/>
            <a:pathLst>
              <a:path w="9128125" h="679450">
                <a:moveTo>
                  <a:pt x="9128011" y="0"/>
                </a:moveTo>
                <a:lnTo>
                  <a:pt x="6713995" y="0"/>
                </a:lnTo>
                <a:lnTo>
                  <a:pt x="4375416" y="0"/>
                </a:lnTo>
                <a:lnTo>
                  <a:pt x="1735086" y="0"/>
                </a:lnTo>
                <a:lnTo>
                  <a:pt x="0" y="0"/>
                </a:lnTo>
                <a:lnTo>
                  <a:pt x="0" y="678929"/>
                </a:lnTo>
                <a:lnTo>
                  <a:pt x="1735086" y="678929"/>
                </a:lnTo>
                <a:lnTo>
                  <a:pt x="4375416" y="678929"/>
                </a:lnTo>
                <a:lnTo>
                  <a:pt x="6713995" y="678929"/>
                </a:lnTo>
                <a:lnTo>
                  <a:pt x="9128011" y="678929"/>
                </a:lnTo>
                <a:lnTo>
                  <a:pt x="9128011" y="0"/>
                </a:lnTo>
                <a:close/>
              </a:path>
            </a:pathLst>
          </a:custGeom>
          <a:solidFill>
            <a:srgbClr val="232B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2615" y="3319259"/>
            <a:ext cx="9128125" cy="679450"/>
          </a:xfrm>
          <a:custGeom>
            <a:avLst/>
            <a:gdLst/>
            <a:ahLst/>
            <a:cxnLst/>
            <a:rect l="l" t="t" r="r" b="b"/>
            <a:pathLst>
              <a:path w="9128125" h="679450">
                <a:moveTo>
                  <a:pt x="9128011" y="0"/>
                </a:moveTo>
                <a:lnTo>
                  <a:pt x="6713995" y="0"/>
                </a:lnTo>
                <a:lnTo>
                  <a:pt x="4375416" y="0"/>
                </a:lnTo>
                <a:lnTo>
                  <a:pt x="1735086" y="0"/>
                </a:lnTo>
                <a:lnTo>
                  <a:pt x="0" y="0"/>
                </a:lnTo>
                <a:lnTo>
                  <a:pt x="0" y="678929"/>
                </a:lnTo>
                <a:lnTo>
                  <a:pt x="1735086" y="678929"/>
                </a:lnTo>
                <a:lnTo>
                  <a:pt x="4375416" y="678929"/>
                </a:lnTo>
                <a:lnTo>
                  <a:pt x="6713995" y="678929"/>
                </a:lnTo>
                <a:lnTo>
                  <a:pt x="9128011" y="678929"/>
                </a:lnTo>
                <a:lnTo>
                  <a:pt x="9128011" y="0"/>
                </a:lnTo>
                <a:close/>
              </a:path>
            </a:pathLst>
          </a:custGeom>
          <a:solidFill>
            <a:srgbClr val="232B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42150" y="1271968"/>
          <a:ext cx="9225280" cy="2726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4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8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Mechanism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3189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  <a:lnT w="28575">
                      <a:solidFill>
                        <a:srgbClr val="1D2661"/>
                      </a:solidFill>
                      <a:prstDash val="solid"/>
                    </a:lnT>
                    <a:solidFill>
                      <a:srgbClr val="131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Persistence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3189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  <a:lnT w="28575">
                      <a:solidFill>
                        <a:srgbClr val="1D2661"/>
                      </a:solidFill>
                      <a:prstDash val="solid"/>
                    </a:lnT>
                    <a:solidFill>
                      <a:srgbClr val="131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3189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  <a:lnT w="28575">
                      <a:solidFill>
                        <a:srgbClr val="1D2661"/>
                      </a:solidFill>
                      <a:prstDash val="solid"/>
                    </a:lnT>
                    <a:solidFill>
                      <a:srgbClr val="131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Best</a:t>
                      </a:r>
                      <a:r>
                        <a:rPr sz="950" b="1" spc="55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950" b="1" spc="55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20" dirty="0">
                          <a:solidFill>
                            <a:srgbClr val="F9E794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3189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  <a:lnT w="28575">
                      <a:solidFill>
                        <a:srgbClr val="1D2661"/>
                      </a:solidFill>
                      <a:prstDash val="solid"/>
                    </a:lnT>
                    <a:solidFill>
                      <a:srgbClr val="131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HttpSession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Cookies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URL</a:t>
                      </a:r>
                      <a:r>
                        <a:rPr sz="9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Rewriting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r>
                        <a:rPr sz="9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memory;</a:t>
                      </a:r>
                      <a:r>
                        <a:rPr sz="9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lasts</a:t>
                      </a:r>
                      <a:r>
                        <a:rPr sz="9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until</a:t>
                      </a:r>
                      <a:r>
                        <a:rPr sz="95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timeout/invalidate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Client-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side;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survive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browser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restarts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r>
                        <a:rPr sz="95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beyond</a:t>
                      </a:r>
                      <a:r>
                        <a:rPr sz="95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r>
                        <a:rPr sz="95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URL/tab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Strong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leaves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 marR="421005">
                        <a:lnSpc>
                          <a:spcPts val="1110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Moderate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Secure/HttpOnly/ SameSite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Weak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exposed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URL/logs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Storing</a:t>
                      </a:r>
                      <a:r>
                        <a:rPr sz="9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complex,</a:t>
                      </a:r>
                      <a:r>
                        <a:rPr sz="9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sensitive</a:t>
                      </a:r>
                      <a:r>
                        <a:rPr sz="9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user/app</a:t>
                      </a:r>
                      <a:r>
                        <a:rPr sz="9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"Remember</a:t>
                      </a:r>
                      <a:r>
                        <a:rPr sz="9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me",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preferences,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light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Fallback</a:t>
                      </a:r>
                      <a:r>
                        <a:rPr sz="9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when</a:t>
                      </a:r>
                      <a:r>
                        <a:rPr sz="9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cookies</a:t>
                      </a:r>
                      <a:r>
                        <a:rPr sz="9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9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disabled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28575">
                      <a:solidFill>
                        <a:srgbClr val="1D2661"/>
                      </a:solidFill>
                      <a:prstDash val="solid"/>
                    </a:lnL>
                    <a:lnR w="28575">
                      <a:solidFill>
                        <a:srgbClr val="1D266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52627" y="4186809"/>
            <a:ext cx="9128125" cy="1056640"/>
          </a:xfrm>
          <a:custGeom>
            <a:avLst/>
            <a:gdLst/>
            <a:ahLst/>
            <a:cxnLst/>
            <a:rect l="l" t="t" r="r" b="b"/>
            <a:pathLst>
              <a:path w="9128125" h="1056639">
                <a:moveTo>
                  <a:pt x="9067650" y="1056131"/>
                </a:moveTo>
                <a:lnTo>
                  <a:pt x="60347" y="1056131"/>
                </a:lnTo>
                <a:lnTo>
                  <a:pt x="36857" y="1051389"/>
                </a:lnTo>
                <a:lnTo>
                  <a:pt x="17675" y="1038456"/>
                </a:lnTo>
                <a:lnTo>
                  <a:pt x="4742" y="1019274"/>
                </a:lnTo>
                <a:lnTo>
                  <a:pt x="0" y="995784"/>
                </a:lnTo>
                <a:lnTo>
                  <a:pt x="0" y="60347"/>
                </a:lnTo>
                <a:lnTo>
                  <a:pt x="4742" y="36857"/>
                </a:lnTo>
                <a:lnTo>
                  <a:pt x="17675" y="17675"/>
                </a:lnTo>
                <a:lnTo>
                  <a:pt x="36857" y="4742"/>
                </a:lnTo>
                <a:lnTo>
                  <a:pt x="60347" y="0"/>
                </a:lnTo>
                <a:lnTo>
                  <a:pt x="9067650" y="0"/>
                </a:lnTo>
                <a:lnTo>
                  <a:pt x="9110322" y="17675"/>
                </a:lnTo>
                <a:lnTo>
                  <a:pt x="9127997" y="60347"/>
                </a:lnTo>
                <a:lnTo>
                  <a:pt x="9127997" y="995784"/>
                </a:lnTo>
                <a:lnTo>
                  <a:pt x="9123255" y="1019274"/>
                </a:lnTo>
                <a:lnTo>
                  <a:pt x="9110322" y="1038456"/>
                </a:lnTo>
                <a:lnTo>
                  <a:pt x="9091140" y="1051389"/>
                </a:lnTo>
                <a:lnTo>
                  <a:pt x="9067650" y="1056131"/>
                </a:lnTo>
                <a:close/>
              </a:path>
            </a:pathLst>
          </a:custGeom>
          <a:solidFill>
            <a:srgbClr val="232B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3961" y="4534535"/>
            <a:ext cx="8252459" cy="3543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80"/>
              </a:spcBef>
            </a:pPr>
            <a:r>
              <a:rPr sz="1050" b="1" dirty="0">
                <a:solidFill>
                  <a:srgbClr val="F9E794"/>
                </a:solidFill>
                <a:latin typeface="Calibri"/>
                <a:cs typeface="Calibri"/>
              </a:rPr>
              <a:t>Takeaway:</a:t>
            </a:r>
            <a:r>
              <a:rPr sz="1050" b="1" spc="270" dirty="0">
                <a:solidFill>
                  <a:srgbClr val="F9E79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HttpSession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offers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strongest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richest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state,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combine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cookies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(and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URL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rewriting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fallback)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0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robust,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standards-compliant</a:t>
            </a:r>
            <a:r>
              <a:rPr sz="105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0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strategy.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1721" y="2036064"/>
            <a:ext cx="4539615" cy="2917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9450" spc="905" dirty="0">
                <a:solidFill>
                  <a:srgbClr val="000000"/>
                </a:solidFill>
                <a:latin typeface="Roboto"/>
                <a:cs typeface="Roboto"/>
              </a:rPr>
              <a:t>THANK </a:t>
            </a:r>
            <a:r>
              <a:rPr sz="9450" spc="555" dirty="0">
                <a:solidFill>
                  <a:srgbClr val="000000"/>
                </a:solidFill>
                <a:latin typeface="Roboto"/>
                <a:cs typeface="Roboto"/>
              </a:rPr>
              <a:t>YOU</a:t>
            </a:r>
            <a:endParaRPr sz="94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499</Words>
  <Application>Microsoft Office PowerPoint</Application>
  <PresentationFormat>Custom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 MT</vt:lpstr>
      <vt:lpstr>Calibri</vt:lpstr>
      <vt:lpstr>Cambria</vt:lpstr>
      <vt:lpstr>Roboto</vt:lpstr>
      <vt:lpstr>Roboto Bk</vt:lpstr>
      <vt:lpstr>Times New Roman</vt:lpstr>
      <vt:lpstr>Office Theme</vt:lpstr>
      <vt:lpstr>Session Tracking Techniques</vt:lpstr>
      <vt:lpstr>Introducti on</vt:lpstr>
      <vt:lpstr>HttpSession</vt:lpstr>
      <vt:lpstr>Cookies</vt:lpstr>
      <vt:lpstr>URL Rewriting</vt:lpstr>
      <vt:lpstr>Use-Case Comparison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manoj Kumar</cp:lastModifiedBy>
  <cp:revision>1</cp:revision>
  <dcterms:created xsi:type="dcterms:W3CDTF">2026-08-19T08:32:51Z</dcterms:created>
  <dcterms:modified xsi:type="dcterms:W3CDTF">2026-08-19T08:34:05Z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2026-08-19T00:00:00Z</vt:filetime>
  </property>
  <property fmtid="{D5CDD505-2E9C-101B-9397-08002B2CF9AE}" pid="4" name="Producer">
    <vt:lpwstr>Skia/PDF m128</vt:lpwstr>
  </property>
  <property fmtid="{D5CDD505-2E9C-101B-9397-08002B2CF9AE}" pid="5" name="LastSaved">
    <vt:filetime>2026-08-19T00:00:00Z</vt:filetime>
  </property>
</Properties>
</file>